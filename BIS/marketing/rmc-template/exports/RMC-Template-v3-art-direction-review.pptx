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667c93ec9246ca" /><Relationship Type="http://schemas.openxmlformats.org/officeDocument/2006/relationships/extended-properties" Target="/docProps/app.xml" Id="R9d830911708d451f" /><Relationship Type="http://schemas.openxmlformats.org/officeDocument/2006/relationships/officeDocument" Target="/ppt/presentation.xml" Id="Rc5ac91b49f2f44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0aee1f47e64ac5"/>
  </p:sldMasterIdLst>
  <p:notesMasterIdLst>
    <p:notesMasterId xmlns:r="http://schemas.openxmlformats.org/officeDocument/2006/relationships" r:id="R9c2228971c174f37"/>
  </p:notesMasterIdLst>
  <p:sldIdLst>
    <p:sldId xmlns:r="http://schemas.openxmlformats.org/officeDocument/2006/relationships" id="256" r:id="R12c1dace80524017"/>
    <p:sldId xmlns:r="http://schemas.openxmlformats.org/officeDocument/2006/relationships" id="257" r:id="R509123dd1c27498b"/>
    <p:sldId xmlns:r="http://schemas.openxmlformats.org/officeDocument/2006/relationships" id="258" r:id="R3be70738c5444533"/>
    <p:sldId xmlns:r="http://schemas.openxmlformats.org/officeDocument/2006/relationships" id="259" r:id="R12ebdee7bf48479b"/>
    <p:sldId xmlns:r="http://schemas.openxmlformats.org/officeDocument/2006/relationships" id="260" r:id="R46b9c2dd1c8e48fc"/>
    <p:sldId xmlns:r="http://schemas.openxmlformats.org/officeDocument/2006/relationships" id="261" r:id="Rbabb1f131de7404b"/>
    <p:sldId xmlns:r="http://schemas.openxmlformats.org/officeDocument/2006/relationships" id="262" r:id="R98ff39bc08274fa2"/>
    <p:sldId xmlns:r="http://schemas.openxmlformats.org/officeDocument/2006/relationships" id="263" r:id="R0172841c6de54131"/>
    <p:sldId xmlns:r="http://schemas.openxmlformats.org/officeDocument/2006/relationships" id="264" r:id="R3a430a635af04c5d"/>
    <p:sldId xmlns:r="http://schemas.openxmlformats.org/officeDocument/2006/relationships" id="265" r:id="R4770b62b577d46d9"/>
    <p:sldId xmlns:r="http://schemas.openxmlformats.org/officeDocument/2006/relationships" id="266" r:id="R89bad6c86ce045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774254b1504abc" /><Relationship Type="http://schemas.openxmlformats.org/officeDocument/2006/relationships/slideMaster" Target="/ppt/slideMasters/slideMaster1.xml" Id="R2e0aee1f47e64ac5" /><Relationship Type="http://schemas.openxmlformats.org/officeDocument/2006/relationships/notesMaster" Target="/ppt/notesMasters/notesMaster1.xml" Id="R9c2228971c174f37" /><Relationship Type="http://schemas.openxmlformats.org/officeDocument/2006/relationships/presProps" Target="/ppt/presProps.xml" Id="R5f1221740a914ebd" /><Relationship Type="http://schemas.openxmlformats.org/officeDocument/2006/relationships/tableStyles" Target="/ppt/tableStyles.xml" Id="R6206956875c44f9d" /><Relationship Type="http://schemas.openxmlformats.org/officeDocument/2006/relationships/slide" Target="/ppt/slides/slide1.xml" Id="R12c1dace80524017" /><Relationship Type="http://schemas.openxmlformats.org/officeDocument/2006/relationships/slide" Target="/ppt/slides/slide2.xml" Id="R509123dd1c27498b" /><Relationship Type="http://schemas.openxmlformats.org/officeDocument/2006/relationships/slide" Target="/ppt/slides/slide3.xml" Id="R3be70738c5444533" /><Relationship Type="http://schemas.openxmlformats.org/officeDocument/2006/relationships/slide" Target="/ppt/slides/slide4.xml" Id="R12ebdee7bf48479b" /><Relationship Type="http://schemas.openxmlformats.org/officeDocument/2006/relationships/slide" Target="/ppt/slides/slide5.xml" Id="R46b9c2dd1c8e48fc" /><Relationship Type="http://schemas.openxmlformats.org/officeDocument/2006/relationships/slide" Target="/ppt/slides/slide6.xml" Id="Rbabb1f131de7404b" /><Relationship Type="http://schemas.openxmlformats.org/officeDocument/2006/relationships/slide" Target="/ppt/slides/slide7.xml" Id="R98ff39bc08274fa2" /><Relationship Type="http://schemas.openxmlformats.org/officeDocument/2006/relationships/slide" Target="/ppt/slides/slide8.xml" Id="R0172841c6de54131" /><Relationship Type="http://schemas.openxmlformats.org/officeDocument/2006/relationships/slide" Target="/ppt/slides/slide9.xml" Id="R3a430a635af04c5d" /><Relationship Type="http://schemas.openxmlformats.org/officeDocument/2006/relationships/slide" Target="/ppt/slides/slide10.xml" Id="R4770b62b577d46d9" /><Relationship Type="http://schemas.openxmlformats.org/officeDocument/2006/relationships/slide" Target="/ppt/slides/slide11.xml" Id="R89bad6c86ce045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68a8f49f8b48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9069f7d7754052" /><Relationship Type="http://schemas.openxmlformats.org/officeDocument/2006/relationships/notesMaster" Target="/ppt/notesMasters/notesMaster1.xml" Id="R3b3e6a8e6e0849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df313fa3644e5c" /><Relationship Type="http://schemas.openxmlformats.org/officeDocument/2006/relationships/notesMaster" Target="/ppt/notesMasters/notesMaster1.xml" Id="Rc94d005b8daf4f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aa938698b74004" /><Relationship Type="http://schemas.openxmlformats.org/officeDocument/2006/relationships/notesMaster" Target="/ppt/notesMasters/notesMaster1.xml" Id="Re4065365070547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1d7550b09745b2" /><Relationship Type="http://schemas.openxmlformats.org/officeDocument/2006/relationships/notesMaster" Target="/ppt/notesMasters/notesMaster1.xml" Id="Re11e514fb81147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17560580824e67" /><Relationship Type="http://schemas.openxmlformats.org/officeDocument/2006/relationships/notesMaster" Target="/ppt/notesMasters/notesMaster1.xml" Id="Rff125110fe6742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e9a278ebef450c" /><Relationship Type="http://schemas.openxmlformats.org/officeDocument/2006/relationships/notesMaster" Target="/ppt/notesMasters/notesMaster1.xml" Id="Rc88b029115a94a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d22fe051b443d9" /><Relationship Type="http://schemas.openxmlformats.org/officeDocument/2006/relationships/notesMaster" Target="/ppt/notesMasters/notesMaster1.xml" Id="Rf607d021608744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a671916be24b90" /><Relationship Type="http://schemas.openxmlformats.org/officeDocument/2006/relationships/notesMaster" Target="/ppt/notesMasters/notesMaster1.xml" Id="Rdc9606e293f746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8a2a540bb74513" /><Relationship Type="http://schemas.openxmlformats.org/officeDocument/2006/relationships/notesMaster" Target="/ppt/notesMasters/notesMaster1.xml" Id="Rb85146cd63684c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7dd9cf67d34f13" /><Relationship Type="http://schemas.openxmlformats.org/officeDocument/2006/relationships/notesMaster" Target="/ppt/notesMasters/notesMaster1.xml" Id="Rbc570043e29d43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9d9c78070b4e08" /><Relationship Type="http://schemas.openxmlformats.org/officeDocument/2006/relationships/notesMaster" Target="/ppt/notesMasters/notesMaster1.xml" Id="Rf589f852c8264d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7d115671b843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dd5a42fb5245b1" /><Relationship Type="http://schemas.openxmlformats.org/officeDocument/2006/relationships/slideLayout" Target="/ppt/slideLayouts/slideLayout1.xml" Id="Rc5db26103c9248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db26103c9248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2c1bc57564205" /><Relationship Type="http://schemas.openxmlformats.org/officeDocument/2006/relationships/image" Target="/ppt/media/image.png" Id="Re8ca7fb94cb549dc" /><Relationship Type="http://schemas.openxmlformats.org/officeDocument/2006/relationships/image" Target="/ppt/media/image2.png" Id="R8b4a135bc9b44d19" /><Relationship Type="http://schemas.openxmlformats.org/officeDocument/2006/relationships/notesSlide" Target="/ppt/notesSlides/notesSlide1.xml" Id="Rf292770ba05f4d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5cf1d9d0a46a7" /><Relationship Type="http://schemas.openxmlformats.org/officeDocument/2006/relationships/image" Target="/ppt/media/image3.png" Id="Rd0153424756d4202" /><Relationship Type="http://schemas.openxmlformats.org/officeDocument/2006/relationships/image" Target="/ppt/media/image4.png" Id="R0e349546812348d1" /><Relationship Type="http://schemas.openxmlformats.org/officeDocument/2006/relationships/notesSlide" Target="/ppt/notesSlides/notesSlide2.xml" Id="R963d4e9c2f5c43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b3253632c4503" /><Relationship Type="http://schemas.openxmlformats.org/officeDocument/2006/relationships/image" Target="/ppt/media/image5.png" Id="R0eaeba1b57e54436" /><Relationship Type="http://schemas.openxmlformats.org/officeDocument/2006/relationships/notesSlide" Target="/ppt/notesSlides/notesSlide3.xml" Id="R9eb56fe158d64a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78ef971fb43a4" /><Relationship Type="http://schemas.openxmlformats.org/officeDocument/2006/relationships/image" Target="/ppt/media/image6.png" Id="R0ac226743acb4328" /><Relationship Type="http://schemas.openxmlformats.org/officeDocument/2006/relationships/image" Target="/ppt/media/image7.png" Id="R7cfaf8eda73c4310" /><Relationship Type="http://schemas.openxmlformats.org/officeDocument/2006/relationships/notesSlide" Target="/ppt/notesSlides/notesSlide4.xml" Id="R1fc7b9bd5e3142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ad27125b04c18" /><Relationship Type="http://schemas.openxmlformats.org/officeDocument/2006/relationships/image" Target="/ppt/media/image8.png" Id="Rf7c4b8eb1c6249c9" /><Relationship Type="http://schemas.openxmlformats.org/officeDocument/2006/relationships/notesSlide" Target="/ppt/notesSlides/notesSlide5.xml" Id="R31e53ad134c549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7e570dde64a84" /><Relationship Type="http://schemas.openxmlformats.org/officeDocument/2006/relationships/image" Target="/ppt/media/image9.png" Id="Rc7d9a85df2ba4eae" /><Relationship Type="http://schemas.openxmlformats.org/officeDocument/2006/relationships/notesSlide" Target="/ppt/notesSlides/notesSlide6.xml" Id="Rf6e26fd7cc1245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52791d2064f40" /><Relationship Type="http://schemas.openxmlformats.org/officeDocument/2006/relationships/image" Target="/ppt/media/image10.png" Id="Rb1d8e5d0216b496a" /><Relationship Type="http://schemas.openxmlformats.org/officeDocument/2006/relationships/notesSlide" Target="/ppt/notesSlides/notesSlide7.xml" Id="R15f2ea4bdfcc43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385d78b0a40e5" /><Relationship Type="http://schemas.openxmlformats.org/officeDocument/2006/relationships/image" Target="/ppt/media/image11.png" Id="Rc56f2179c3c941e0" /><Relationship Type="http://schemas.openxmlformats.org/officeDocument/2006/relationships/notesSlide" Target="/ppt/notesSlides/notesSlide8.xml" Id="R990489fe8a1949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35ea0792f4712" /><Relationship Type="http://schemas.openxmlformats.org/officeDocument/2006/relationships/image" Target="/ppt/media/image12.png" Id="Ree943a89162a47cf" /><Relationship Type="http://schemas.openxmlformats.org/officeDocument/2006/relationships/notesSlide" Target="/ppt/notesSlides/notesSlide9.xml" Id="R53f8098c20fc4e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370225a4b42d7" /><Relationship Type="http://schemas.openxmlformats.org/officeDocument/2006/relationships/image" Target="/ppt/media/image13.png" Id="R9d04aefce76f4363" /><Relationship Type="http://schemas.openxmlformats.org/officeDocument/2006/relationships/notesSlide" Target="/ppt/notesSlides/notesSlide10.xml" Id="Re0c315ddf20844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ae76bd21d4c97" /><Relationship Type="http://schemas.openxmlformats.org/officeDocument/2006/relationships/image" Target="/ppt/media/image14.png" Id="Rf05861abfb29403d" /><Relationship Type="http://schemas.openxmlformats.org/officeDocument/2006/relationships/image" Target="/ppt/media/image15.png" Id="R7e58dc1b137d4721" /><Relationship Type="http://schemas.openxmlformats.org/officeDocument/2006/relationships/notesSlide" Target="/ppt/notesSlides/notesSlide11.xml" Id="R2a4f2279e1ec45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a7fb94cb549d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AE82A-3DA2-40CD-8286-FAB5D51C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8DFA8-5B70-414E-B517-7B14146C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Title slide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1DDC5-5B6B-4C9E-81A3-580E382F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C7A78-D7A0-44D4-8247-1E2D1227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A34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1F047-7F8F-464C-9391-DF9B3EC9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F186C-9D67-4E58-9280-F38985CA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reusable</a:t>
            </a:r>
          </a:p>
          <a:p xmlns:a="http://schemas.openxmlformats.org/drawingml/2006/main">
            <a:pPr>
              <a:defRPr sz="43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slide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6A215-CDB5-42D9-B3BD-CB06658D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4C7E4"/>
                </a:solidFill>
                <a:latin typeface="Arial"/>
                <a:ea typeface="Arial"/>
                <a:cs typeface="Arial"/>
              </a:rPr>
              <a:t>Dark blue. Quiet contrast. Abstract visual space.</a:t>
            </a:r>
          </a:p>
          <a:p xmlns:a="http://schemas.openxmlformats.org/drawingml/2006/main">
            <a:pPr>
              <a:defRPr sz="16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4C7E4"/>
                </a:solidFill>
                <a:latin typeface="Arial"/>
                <a:ea typeface="Arial"/>
                <a:cs typeface="Arial"/>
              </a:rPr>
              <a:t>Editable in Google Slides.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09A2C-ECA5-4D46-9CD8-D91CF43F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Built first for BIS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a135bc9b44d19"/>
          <a:stretch xmlns:a="http://schemas.openxmlformats.org/drawingml/2006/main"/>
        </p:blipFill>
        <p:spPr>
          <a:xfrm xmlns:a="http://schemas.openxmlformats.org/drawingml/2006/main">
            <a:off x="6819900" y="1793875"/>
            <a:ext cx="4191000" cy="279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82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53424756d420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CA6C6-E9FE-4222-B6A0-1B4A1E15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B4CEB-3E10-4512-AD08-2A8913B7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Section title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3F5DD-053D-436B-9655-F0E7AE39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8A7A5-CA7F-4B89-8339-329D8670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666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A34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B7980-467E-492F-9B6F-0F6EEDB7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09BDA-AA69-4249-950A-81F001A7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The next</a:t>
            </a:r>
          </a:p>
          <a:p xmlns:a="http://schemas.openxmlformats.org/drawingml/2006/main">
            <a:pPr>
              <a:defRPr sz="4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conversation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63C06-6EB4-46FC-BFF6-65975F2D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4C7E4"/>
                </a:solidFill>
                <a:latin typeface="Arial"/>
                <a:ea typeface="Arial"/>
                <a:cs typeface="Arial"/>
              </a:rPr>
              <a:t>Use this layout to introduce a new chapter without adding a second visual system.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49546812348d1"/>
          <a:stretch xmlns:a="http://schemas.openxmlformats.org/drawingml/2006/main"/>
        </p:blipFill>
        <p:spPr>
          <a:xfrm xmlns:a="http://schemas.openxmlformats.org/drawingml/2006/main">
            <a:off x="7162800" y="1597351"/>
            <a:ext cx="3762375" cy="36442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966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eba1b57e5443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ED696-A4DB-40D6-B6F4-15C7CA8F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0792B-E648-44FE-802E-0CD3CDE7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Table of contents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53361-77BE-4246-A384-1865A825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234D2-A38A-4735-A125-08D2AA72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Table of contents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AE430-0198-42E8-9A29-D7E791C0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Five concise stops are enough for a clear narrative.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61D42-B6F6-4256-B70F-49725F9D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F68BD-BB4E-43F1-813D-09283F05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669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DBC5C-91FA-4E9E-94C3-7CD85839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What the audience needs to know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53812-5CEB-4D3F-9755-957A3882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3D9EB-87BD-4029-994D-3F00F582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0C5D3-29B9-4125-8299-A84BEA8E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47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6F24C-2FBF-4304-913D-3551C03C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How the parts fit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9CFF0-7E1B-40C8-8A90-06556B49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FD23D-0F6E-4660-ACF2-05D6C83F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0C3F9-A0E8-45E1-8723-A8A5D1E9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3F6C1B-DD2A-4A20-A39F-11A964BF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671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What changes for people using 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30DFA-5BD2-4412-8C33-A16F2A1A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7F38FA-0FDA-4A1F-AEDE-84515F59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12CE1-D336-4194-B17B-FC9C1512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10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203FD8-08BD-49B8-B859-1785563A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481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choice and its tradeoffs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2187D6-7D97-4133-B583-D6D69431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B72F4C-5FAF-4F46-BE45-7BEB0703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916622-EF9C-4F1F-9B6E-13562B90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AF8BF2-A09F-4571-8D88-C76D1725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292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work that follows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CA44F6-5356-448E-A6BD-3394F088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878682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226743acb432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567D1-B481-468B-8D79-884A6691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217C1-FE0C-460B-9BBE-DD195496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Full-screen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A148F-C7BD-432C-BDAC-9557B80D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000C6-BAC9-4FB3-BABC-6255107C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334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A34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95954-2646-46A9-9093-7856F5F1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Full-screen content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27B25-35AD-4A54-9F8D-42822D55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One clear idea</a:t>
            </a:r>
          </a:p>
          <a:p xmlns:a="http://schemas.openxmlformats.org/drawingml/2006/main">
            <a:pPr>
              <a:defRPr sz="41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can hold the room.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1BA0C-08AD-4277-A630-28351339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B4C7E4"/>
                </a:solidFill>
                <a:latin typeface="Arial"/>
                <a:ea typeface="Arial"/>
                <a:cs typeface="Arial"/>
              </a:rPr>
              <a:t>Use this slide for a point of view, a decision, or a statement that needs space.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81E8F-BA67-4A60-AF0C-1C2FFB2A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D7FF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af8eda73c4310"/>
          <a:stretch xmlns:a="http://schemas.openxmlformats.org/drawingml/2006/main"/>
        </p:blipFill>
        <p:spPr>
          <a:xfrm xmlns:a="http://schemas.openxmlformats.org/drawingml/2006/main">
            <a:off x="7239000" y="2254250"/>
            <a:ext cx="3619500" cy="301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895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4b8eb1c6249c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FB7B8-AC9E-4CF9-B454-B4D79D12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B3965-0E43-4D8A-BCCE-058867F7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Left content / right visual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DC335-D991-4B2D-917F-94DE8919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538E8-90A1-4CF9-8C75-358974D3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Content with a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E0248-15B1-49C3-91C9-64A03F94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A written explanation on the left and an interchangeable visual on the right.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A1289-248B-4504-A0DB-A308274C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Headline that explains the 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D901C-CF13-4F8C-A881-CC738EC3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4095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Use two or three short paragraphs or a compact list. Keep the audience focused on one point and let the visual do a different job.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B4EB8-3587-4D5F-B11B-BABF7D7A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47675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D28F9-D1D0-4E55-BDB2-A84EC0D5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Replace with visual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50A5C-E447-4A4D-90A7-9E74A709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052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4C7E4"/>
                </a:solidFill>
                <a:latin typeface="Arial"/>
                <a:ea typeface="Arial"/>
                <a:cs typeface="Arial"/>
              </a:rPr>
              <a:t>Image, product capture, diagram, or illustration</a:t>
            </a:r>
          </a:p>
        </p:txBody>
      </p:sp>
    </p:spTree>
    <p:extLst>
      <p:ext uri="{BB962C8B-B14F-4D97-AF65-F5344CB8AC3E}">
        <p14:creationId xmlns:p14="http://schemas.microsoft.com/office/powerpoint/2010/main" val="20185635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9a85df2ba4ea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F2F1D-6376-4487-B3D9-D394D5A1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FEE6A-C85F-4C0B-A1E2-ACD4A56B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Timeline / process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2A59D-E96E-4D18-8ED0-525A18B3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9BEF2-DCBE-493A-B959-DF500F75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simple progression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599C8-C4BF-486D-A76F-16CC9F3F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Four moments communicate a process without a dense process map.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5FCBF-9F76-40DF-80F8-93058EDD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38550"/>
            <a:ext cx="847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35349-94B1-4779-96CE-ECC6B897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19050">
            <a:solidFill>
              <a:srgbClr val="5AD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7C026-E0F0-43EF-9E9A-89A5B0F6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337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81EC2-04D3-4829-B8E0-F70FF730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386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BD395-CAA1-4AF7-9604-9D72D8B5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6101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trigger or user need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43812-9AD4-4BFC-98AD-FC12E24A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19050">
            <a:solidFill>
              <a:srgbClr val="5AD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E0A0C-0CA6-41AD-AF7A-BDC86B00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337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61153-ABBF-418A-9BA9-0F9DB87A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2386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EB602-0DF6-4408-BD24-6493C20C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6101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system selects a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E42F9-D566-49F2-AE50-6167238F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33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19050">
            <a:solidFill>
              <a:srgbClr val="5AD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7369E2-8862-4E41-B284-521CA890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337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4824BC-5ECE-470D-BE1C-5CBCC492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386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Confirm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D3952-0FAC-4263-91F6-D3CE6CD7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6101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work becomes visible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B0655-A2C8-46A7-809E-7AB03195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19050">
            <a:solidFill>
              <a:srgbClr val="5AD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95607E-E7D0-4B6A-9AAB-0975B690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337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8F2D66-E3CE-4089-83A2-1BD4D257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2386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CD6D57-6020-4C3D-B115-CBFF2DFE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6101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outcome remains available</a:t>
            </a:r>
          </a:p>
        </p:txBody>
      </p:sp>
    </p:spTree>
    <p:extLst>
      <p:ext uri="{BB962C8B-B14F-4D97-AF65-F5344CB8AC3E}">
        <p14:creationId xmlns:p14="http://schemas.microsoft.com/office/powerpoint/2010/main" val="9083464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8e5d0216b496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06A50-23BC-4EC6-9315-9EA1B4E1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054EF-A651-4D43-A31D-0CE7AAF8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Left visual / right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4B7DD-5F8E-486B-A754-9DFF3D8B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95A93-0F9D-47E9-8977-779DBEE9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Visual with supporting content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ADBEC-4526-4BA0-93D1-1E8364D3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Swap the visual orientation when the audience should meet evidence before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4DD2F-2CC9-4B6F-960E-B72A6D44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4572000" cy="35623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61AA4-DFED-4108-AE0E-21FC9488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908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Replace with visual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BE08B-724B-42DC-B4EB-65FA8121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4C7E4"/>
                </a:solidFill>
                <a:latin typeface="Arial"/>
                <a:ea typeface="Arial"/>
                <a:cs typeface="Arial"/>
              </a:rPr>
              <a:t>Diagram, screenshot, or abstract 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EE509-D1E1-43BB-BB7C-2ABE113B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precise explanation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23E56-F95F-4320-AD4C-5F7C6184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718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Use this space for a short narrative. The visual earns attention first, then the copy explains what it means and why it matters.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1346B-92E7-47AB-A85C-892D388E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19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Optional supporting note</a:t>
            </a:r>
          </a:p>
        </p:txBody>
      </p:sp>
    </p:spTree>
    <p:extLst>
      <p:ext uri="{BB962C8B-B14F-4D97-AF65-F5344CB8AC3E}">
        <p14:creationId xmlns:p14="http://schemas.microsoft.com/office/powerpoint/2010/main" val="5837147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f2179c3c941e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31DAA-581B-4FC8-8E01-36E2BBDC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198A9-703B-4807-AF8F-97BE2475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Capability grid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86A11-0631-4C85-BE05-54AD6245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A66FB-A1D0-46FD-A678-A36AC920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Capabilities at a glance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3CCD5-3DE5-44D2-92D4-64E7CA55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Four editable slots for things the audience can compare quickly.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C4FCA-8134-42F9-BCF3-87A92CF6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4810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1D61B-779B-4EC0-A0E6-914AF732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574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495FA-C1EE-4D7C-9D46-E1176BDE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25DCA-739D-494B-8934-C34A1788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4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Account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93616-8FFE-4E8B-BEBE-D9FF2F35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47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Identity, access, and balances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F111A-2B3A-4E18-BA3C-AEE6A2FC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4810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08B6A-8707-49AF-911B-6DFE31C7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2574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D2C70-EA5C-48C9-9D1C-E1EB224A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574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114B8-3A67-4564-8AE1-FD07388A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4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E4EFD-342D-4FC3-BA34-A50AB861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47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Records that have ownership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CF837-B714-4D4D-990E-C5A9D5D9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810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1201E-9C8E-410E-90A8-9DA79F8B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481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B5CDA1-1C3B-48D8-8004-3BC22C21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C1702-0305-4228-9B33-F61449D3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38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42579-0C98-4266-B74A-6E3AADF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38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Movement and confirmation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907A8E-405E-458A-B233-9228F2A1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752850"/>
            <a:ext cx="4810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FA2F59-B491-461C-B027-FE91E540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0481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8D0562-C040-4164-A809-19BC8BB0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48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E5CB34-23B4-47F7-8F27-8B1B31CF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38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D2E288-F36D-47E5-8953-07CF5E1A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A clear trail of activity</a:t>
            </a:r>
          </a:p>
        </p:txBody>
      </p:sp>
    </p:spTree>
    <p:extLst>
      <p:ext uri="{BB962C8B-B14F-4D97-AF65-F5344CB8AC3E}">
        <p14:creationId xmlns:p14="http://schemas.microsoft.com/office/powerpoint/2010/main" val="19636814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43a89162a47c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BE551-F636-41FF-A202-35316BB1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4F023-F68D-471D-BF76-0A40794F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System architecture / integration diagram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EE656-8A32-4384-BBF0-D9999B5A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84E6E-81C5-440E-8B95-13AD3523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clear system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EEB0C-B074-455C-9F15-1DE7D50C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An editable architecture pattern for BIS and its products.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B41CB-E199-438B-ACB9-8DECCF4A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24150"/>
            <a:ext cx="2571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6ACFD-296E-404A-81C7-DD482A4B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6227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BIS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83BC5-7CC1-4571-8605-7E05F2B1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71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4F8FF"/>
                </a:solidFill>
                <a:latin typeface="Arial"/>
                <a:ea typeface="Arial"/>
                <a:cs typeface="Arial"/>
              </a:rPr>
              <a:t>Shared 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0AD79-F2C3-44CA-A3FD-67986D30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2333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44C19-8F85-49C4-BD84-23C6FEF1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33625"/>
            <a:ext cx="2333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728F1-33AF-49B5-81CD-6372B3AB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67250"/>
            <a:ext cx="2571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19897-D96D-4EAB-98B7-A9A3AEC6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6DF73-1047-419F-AC36-E0B065CF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BF6A5-FAD2-449B-B27D-BCFED8EF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241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Marketplace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6735A-6B02-426D-A647-F79F6E99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4797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Commerce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3BE3B-25C4-43E7-A889-8A147FCA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57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Game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E494FE-A5B9-4604-8023-64C14C3C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816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Player experience</a:t>
            </a:r>
          </a:p>
        </p:txBody>
      </p: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33725" y="2762250"/>
            <a:ext cx="167640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AD7FF"/>
            </a:solidFill>
            <a:prstDash val="solid"/>
            <a:headEnd type="arrow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381875" y="2762250"/>
            <a:ext cx="1666875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AD7FF"/>
            </a:solidFill>
            <a:prstDash val="solid"/>
            <a:headEnd type="arrow" w="sm" len="sm"/>
          </a:ln>
        </p:spPr>
      </p:cxnSp>
      <p:cxnSp>
        <p:nvCxnSpPr>
          <p:cNvPr id="42" name=""/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388620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AD7FF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646514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4aefce76f436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22A52-E2D6-47D0-9F38-AD923F0A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AE564-2FCE-4226-992C-FA2B78D7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Comparison / decision 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87024-298B-43A4-ACDD-7D3C03CD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6193E-25B2-4694-A4B8-FDFEF752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decision in plain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E8F4E-E802-411C-9628-55F6ABA5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A native editable table for comparing choices without visual noise.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2950" y="2038350"/>
          <a:ext xmlns:a="http://schemas.openxmlformats.org/drawingml/2006/main" cx="10648950" cy="2667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62238"/>
                <a:gridCol w="2662238"/>
                <a:gridCol w="2662238"/>
                <a:gridCol w="2662238"/>
              </a:tblGrid>
              <a:tr h="666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Option</a:t>
                      </a:r>
                    </a:p>
                  </a:txBody>
                  <a:tcPr marL="91440" marR="91440" marT="45720" marB="45720">
                    <a:solidFill>
                      <a:srgbClr val="287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Best for</a:t>
                      </a:r>
                    </a:p>
                  </a:txBody>
                  <a:tcPr marL="91440" marR="91440" marT="45720" marB="45720">
                    <a:solidFill>
                      <a:srgbClr val="287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Tradeoff</a:t>
                      </a:r>
                    </a:p>
                  </a:txBody>
                  <a:tcPr marL="91440" marR="91440" marT="45720" marB="45720">
                    <a:solidFill>
                      <a:srgbClr val="287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287B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Option A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Fast learning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Limited coverage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AD7FF"/>
                          </a:solidFill>
                          <a:latin typeface="Arial"/>
                          <a:ea typeface="Arial"/>
                          <a:cs typeface="Arial"/>
                        </a:rPr>
                        <a:t>Use now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Option B</a:t>
                      </a:r>
                    </a:p>
                  </a:txBody>
                  <a:tcPr marL="91440" marR="91440" marT="45720" marB="45720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Broad coverage</a:t>
                      </a:r>
                    </a:p>
                  </a:txBody>
                  <a:tcPr marL="91440" marR="91440" marT="45720" marB="45720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More effort</a:t>
                      </a:r>
                    </a:p>
                  </a:txBody>
                  <a:tcPr marL="91440" marR="91440" marT="45720" marB="45720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AD7FF"/>
                          </a:solidFill>
                          <a:latin typeface="Arial"/>
                          <a:ea typeface="Arial"/>
                          <a:cs typeface="Arial"/>
                        </a:rPr>
                        <a:t>Consider later</a:t>
                      </a:r>
                    </a:p>
                  </a:txBody>
                  <a:tcPr marL="91440" marR="91440" marT="45720" marB="45720">
                    <a:solidFill>
                      <a:srgbClr val="102B5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Option C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Specific edge case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Narrow value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AD7FF"/>
                          </a:solidFill>
                          <a:latin typeface="Arial"/>
                          <a:ea typeface="Arial"/>
                          <a:cs typeface="Arial"/>
                        </a:rPr>
                        <a:t>Do not use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C5EED-8ABE-467C-9DB2-02EB8418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Replace the examples with your actual options. Keep the decision column direct.</a:t>
            </a:r>
          </a:p>
        </p:txBody>
      </p:sp>
    </p:spTree>
    <p:extLst>
      <p:ext uri="{BB962C8B-B14F-4D97-AF65-F5344CB8AC3E}">
        <p14:creationId xmlns:p14="http://schemas.microsoft.com/office/powerpoint/2010/main" val="14788498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861abfb29403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8D518-509A-489F-A40C-1D6383AD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1A820-3720-4602-B034-5C3ADC60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Icon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F9D5B-52C2-4E31-9E79-77BB8FB1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0D33B-08D0-4A05-9C4D-BE59BCC1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Icon library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F6C6B-BA83-4070-8DBD-1778EBA2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Original blue key art for technology, games, and blockchain topics.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8dc1b137d4721"/>
          <a:stretch xmlns:a="http://schemas.openxmlformats.org/drawingml/2006/main"/>
        </p:blipFill>
        <p:spPr>
          <a:xfrm xmlns:a="http://schemas.openxmlformats.org/drawingml/2006/main">
            <a:off x="2238375" y="2185595"/>
            <a:ext cx="7715250" cy="330596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A8325-E390-444F-AC4E-CD3ECAE4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813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NFT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B7CBC-0706-43E1-8CCA-0E7E0842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813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Blockchain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F5DAD-43EC-49A2-8519-B4E994F0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813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Games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79B1E-27F4-4DF0-BFDF-3FF15AC8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3813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Decentralized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0F340-E43F-4F69-AAC2-8FF40419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Metaverse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E5C6C-8580-4D7E-AB9A-29F33693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3813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Social networks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8253D-A228-4AB1-A406-5788820F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813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Immutable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E4CEA1-9348-4E7F-988F-6C6168AA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577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Transparent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236AE-C71C-415E-A8C6-18683AE0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577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Internet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C6EE3-168C-4127-B78F-DAD65642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577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Wifi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F0909-3B11-4807-AAF8-B199901F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8577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A9336A-50BA-4C48-8CA9-AB8DAB32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Multiplayer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6B8252-D5AF-4035-BCF8-64AC62CE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8577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Token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B9A6D7-2FE7-4276-8C07-17D9EDEC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577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Trophy</a:t>
            </a:r>
          </a:p>
        </p:txBody>
      </p:sp>
    </p:spTree>
    <p:extLst>
      <p:ext uri="{BB962C8B-B14F-4D97-AF65-F5344CB8AC3E}">
        <p14:creationId xmlns:p14="http://schemas.microsoft.com/office/powerpoint/2010/main" val="5658838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2026-09-15T10:45:06.7860000Z</dcterms:created>
  <dcterms:modified xsi:type="dcterms:W3CDTF">2026-09-15T10:45:06.7860000Z</dcterms:modified>
</coreProperties>
</file>